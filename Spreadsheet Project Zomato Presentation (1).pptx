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Play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IHMprmCS02W7ME36QIz7LS8Ei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C3ABF6-AC9B-40E5-AAB9-77D87F506A27}">
  <a:tblStyle styleId="{3BC3ABF6-AC9B-40E5-AAB9-77D87F506A2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7"/>
          </a:solidFill>
        </a:fill>
      </a:tcStyle>
    </a:wholeTbl>
    <a:band1H>
      <a:tcTxStyle/>
      <a:tcStyle>
        <a:fill>
          <a:solidFill>
            <a:srgbClr val="CADEEF"/>
          </a:solidFill>
        </a:fill>
      </a:tcStyle>
    </a:band1H>
    <a:band2H>
      <a:tcTxStyle/>
    </a:band2H>
    <a:band1V>
      <a:tcTxStyle/>
      <a:tcStyle>
        <a:fill>
          <a:solidFill>
            <a:srgbClr val="CADEEF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FF7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EFF7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regular.fntdata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ppsrhino.com/blogs/revenue-model-of-zomato-complete-guide" TargetMode="External"/><Relationship Id="rId4" Type="http://schemas.openxmlformats.org/officeDocument/2006/relationships/hyperlink" Target="https://www.appsrhino.com/blogs/revenue-model-of-zomato-complete-guide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square with red text&#10;&#10;AI-generated content may be incorrect." id="88" name="Google Shape;88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6957" y="-26411"/>
            <a:ext cx="12397562" cy="694674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type="title"/>
          </p:nvPr>
        </p:nvSpPr>
        <p:spPr>
          <a:xfrm>
            <a:off x="621632" y="570524"/>
            <a:ext cx="4178968" cy="5447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b="1" i="1" lang="en-US" sz="3200" u="sng">
                <a:solidFill>
                  <a:schemeClr val="lt1"/>
                </a:solidFill>
              </a:rPr>
              <a:t>Spreadsheet Project</a:t>
            </a:r>
            <a:br>
              <a:rPr lang="en-US" u="sng">
                <a:solidFill>
                  <a:schemeClr val="lt1"/>
                </a:solidFill>
              </a:rPr>
            </a:br>
            <a:br>
              <a:rPr lang="en-US" u="sng">
                <a:solidFill>
                  <a:schemeClr val="lt1"/>
                </a:solidFill>
              </a:rPr>
            </a:br>
            <a:r>
              <a:rPr b="1" lang="en-US">
                <a:solidFill>
                  <a:schemeClr val="lt1"/>
                </a:solidFill>
              </a:rPr>
              <a:t>Zomato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rgbClr val="D0D0D0"/>
                </a:solidFill>
              </a:rPr>
              <a:t>Restaurant Expansion</a:t>
            </a:r>
            <a:br>
              <a:rPr lang="en-US"/>
            </a:br>
            <a:br>
              <a:rPr lang="en-US"/>
            </a:br>
            <a:r>
              <a:rPr i="1" lang="en-US" sz="1400">
                <a:solidFill>
                  <a:srgbClr val="AEAEAE"/>
                </a:solidFill>
              </a:rPr>
              <a:t>A Data-driven Analysis &amp; Recommendation</a:t>
            </a:r>
            <a:br>
              <a:rPr i="1" lang="en-US"/>
            </a:br>
            <a:br>
              <a:rPr lang="en-US"/>
            </a:br>
            <a:r>
              <a:rPr lang="en-US"/>
              <a:t> </a:t>
            </a:r>
            <a:r>
              <a:rPr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By Mayank Sinha</a:t>
            </a:r>
            <a:br>
              <a:rPr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Date :- 31-12-2025</a:t>
            </a:r>
            <a:endParaRPr/>
          </a:p>
        </p:txBody>
      </p:sp>
      <p:pic>
        <p:nvPicPr>
          <p:cNvPr descr="A red text on a black background&#10;&#10;AI-generated content may be incorrect.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"/>
          <p:cNvCxnSpPr/>
          <p:nvPr/>
        </p:nvCxnSpPr>
        <p:spPr>
          <a:xfrm>
            <a:off x="680484" y="4508205"/>
            <a:ext cx="407226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433633"/>
            <a:ext cx="10291011" cy="348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70A3"/>
              </a:buClr>
              <a:buSzPct val="100000"/>
              <a:buFont typeface="Play"/>
              <a:buNone/>
            </a:pPr>
            <a:r>
              <a:rPr lang="en-US" sz="2700" u="sng">
                <a:solidFill>
                  <a:srgbClr val="3970A3"/>
                </a:solidFill>
              </a:rPr>
              <a:t>What is </a:t>
            </a:r>
            <a:r>
              <a:rPr b="1" lang="en-US" sz="2700" u="sng">
                <a:solidFill>
                  <a:srgbClr val="3970A3"/>
                </a:solidFill>
              </a:rPr>
              <a:t>Zomato</a:t>
            </a:r>
            <a:r>
              <a:rPr lang="en-US" sz="2700" u="sng">
                <a:solidFill>
                  <a:srgbClr val="3970A3"/>
                </a:solidFill>
              </a:rPr>
              <a:t> &amp; how does it work?</a:t>
            </a:r>
            <a:br>
              <a:rPr lang="en-US" u="sng">
                <a:solidFill>
                  <a:srgbClr val="3970A3"/>
                </a:solidFill>
              </a:rPr>
            </a:br>
            <a:endParaRPr>
              <a:solidFill>
                <a:srgbClr val="3970A3"/>
              </a:solidFill>
            </a:endParaRPr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188494" y="365126"/>
            <a:ext cx="6164180" cy="6384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1397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5600"/>
          </a:p>
          <a:p>
            <a:pPr indent="-139700" lvl="0" marL="2286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56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5600"/>
              <a:t>Zomato is one of the most comprehensive and user-friendly apps for finding nearby restaurants and cafés to dine in or to order food online.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5600"/>
              <a:t>Zomato's primary function is recommending local and neighbouring eateries to users and taking orders from them. </a:t>
            </a:r>
            <a:endParaRPr sz="56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5600"/>
              <a:t>Users can use this information to place orders and enjoy delectable food in the comfort of their own homes.</a:t>
            </a:r>
            <a:r>
              <a:rPr b="1" lang="en-US" sz="5600" u="sng">
                <a:solidFill>
                  <a:schemeClr val="hlink"/>
                </a:solidFill>
                <a:hlinkClick r:id="rId3"/>
              </a:rPr>
              <a:t> </a:t>
            </a:r>
            <a:r>
              <a:rPr b="1" lang="en-US" sz="5600" u="sng">
                <a:solidFill>
                  <a:srgbClr val="1F5C9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Zomato offers timely delivery</a:t>
            </a:r>
            <a:r>
              <a:rPr b="1" lang="en-US" sz="5600">
                <a:solidFill>
                  <a:srgbClr val="1F5C99"/>
                </a:solidFill>
              </a:rPr>
              <a:t> </a:t>
            </a:r>
            <a:r>
              <a:rPr lang="en-US" sz="5600"/>
              <a:t>to customer's doorstep, a joy for foodies. Customers no longer have to wait in restaurants for hours.  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5600"/>
              <a:t>Founded by Deepinder Goyal in 2008.</a:t>
            </a:r>
            <a:endParaRPr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56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5600"/>
              <a:t>Zomato's working model is simple. To enjoy a lip-smacking meal, customers have to follow these five simple steps-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5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Char char="•"/>
            </a:pPr>
            <a:r>
              <a:rPr b="1" i="1" lang="en-US" sz="5600" u="sng">
                <a:solidFill>
                  <a:srgbClr val="1F5C99"/>
                </a:solidFill>
              </a:rPr>
              <a:t>Step 1</a:t>
            </a:r>
            <a:endParaRPr b="1" i="1" sz="5600">
              <a:solidFill>
                <a:srgbClr val="1F5C9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600"/>
              <a:t>Users may browse and order food from various restaurants via the desiccated app or website.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Char char="•"/>
            </a:pPr>
            <a:r>
              <a:rPr b="1" i="1" lang="en-US" sz="5600" u="sng">
                <a:solidFill>
                  <a:srgbClr val="1F5C99"/>
                </a:solidFill>
              </a:rPr>
              <a:t>Step 2</a:t>
            </a:r>
            <a:endParaRPr b="1" i="1" sz="5600">
              <a:solidFill>
                <a:srgbClr val="1F5C9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600"/>
              <a:t>When restaurant owners receive an order request, they prepare a dish.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Char char="•"/>
            </a:pPr>
            <a:r>
              <a:rPr b="1" i="1" lang="en-US" sz="5600" u="sng">
                <a:solidFill>
                  <a:srgbClr val="1F5C99"/>
                </a:solidFill>
              </a:rPr>
              <a:t>Step 3</a:t>
            </a:r>
            <a:endParaRPr b="1" i="1" sz="5600">
              <a:solidFill>
                <a:srgbClr val="1F5C9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600"/>
              <a:t>As the food is prepared for delivery, it is given to delivery companies.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Char char="•"/>
            </a:pPr>
            <a:r>
              <a:rPr b="1" i="1" lang="en-US" sz="5600" u="sng">
                <a:solidFill>
                  <a:srgbClr val="1F5C99"/>
                </a:solidFill>
              </a:rPr>
              <a:t>Step 4</a:t>
            </a:r>
            <a:endParaRPr b="1" i="1" sz="5600">
              <a:solidFill>
                <a:srgbClr val="1F5C9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600"/>
              <a:t>The delivery service delivers food to the customer's preferred location.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Char char="•"/>
            </a:pPr>
            <a:r>
              <a:rPr b="1" i="1" lang="en-US" sz="5600" u="sng">
                <a:solidFill>
                  <a:srgbClr val="1F5C99"/>
                </a:solidFill>
              </a:rPr>
              <a:t>Step 5</a:t>
            </a:r>
            <a:endParaRPr b="1" i="1" sz="5600">
              <a:solidFill>
                <a:srgbClr val="1F5C99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600"/>
              <a:t>Customers can make purchases and provide evaluations based on their experience using the payment options. </a:t>
            </a:r>
            <a:endParaRPr/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98" name="Google Shape;98;p2"/>
          <p:cNvPicPr preferRelativeResize="0"/>
          <p:nvPr>
            <p:ph idx="2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1320" y="782053"/>
            <a:ext cx="5252186" cy="514020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descr="A red text on a black background&#10;&#10;AI-generated content may be incorrect." id="99" name="Google Shape;9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3200"/>
              <a:buFont typeface="Play"/>
              <a:buNone/>
            </a:pPr>
            <a:r>
              <a:rPr b="1" lang="en-US" sz="3200" u="sng">
                <a:solidFill>
                  <a:srgbClr val="1F5C99"/>
                </a:solidFill>
              </a:rPr>
              <a:t>Agenda</a:t>
            </a:r>
            <a:r>
              <a:rPr lang="en-US" sz="3200">
                <a:solidFill>
                  <a:srgbClr val="1F5C99"/>
                </a:solidFill>
              </a:rPr>
              <a:t>.</a:t>
            </a:r>
            <a:endParaRPr/>
          </a:p>
        </p:txBody>
      </p:sp>
      <p:grpSp>
        <p:nvGrpSpPr>
          <p:cNvPr id="105" name="Google Shape;105;p3"/>
          <p:cNvGrpSpPr/>
          <p:nvPr/>
        </p:nvGrpSpPr>
        <p:grpSpPr>
          <a:xfrm>
            <a:off x="3298280" y="1058779"/>
            <a:ext cx="5118184" cy="5118184"/>
            <a:chOff x="2460081" y="0"/>
            <a:chExt cx="5118184" cy="5118184"/>
          </a:xfrm>
        </p:grpSpPr>
        <p:sp>
          <p:nvSpPr>
            <p:cNvPr id="106" name="Google Shape;106;p3"/>
            <p:cNvSpPr/>
            <p:nvPr/>
          </p:nvSpPr>
          <p:spPr>
            <a:xfrm>
              <a:off x="2460081" y="0"/>
              <a:ext cx="5118184" cy="5118184"/>
            </a:xfrm>
            <a:prstGeom prst="diamond">
              <a:avLst/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946308" y="486227"/>
              <a:ext cx="1996091" cy="19960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86B85"/>
                </a:gs>
                <a:gs pos="50000">
                  <a:srgbClr val="0A577A"/>
                </a:gs>
                <a:gs pos="100000">
                  <a:srgbClr val="044F6F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3043749" y="583668"/>
              <a:ext cx="1801209" cy="1801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095946" y="486227"/>
              <a:ext cx="1996091" cy="19960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F81A6"/>
                </a:gs>
                <a:gs pos="50000">
                  <a:srgbClr val="25719E"/>
                </a:gs>
                <a:gs pos="100000">
                  <a:srgbClr val="1A6491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5193387" y="583668"/>
              <a:ext cx="1801209" cy="1801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Objects Of Project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946308" y="2635864"/>
              <a:ext cx="1996091" cy="19960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A95B8"/>
                </a:gs>
                <a:gs pos="50000">
                  <a:srgbClr val="5089B4"/>
                </a:gs>
                <a:gs pos="100000">
                  <a:srgbClr val="4179A4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3043749" y="2733305"/>
              <a:ext cx="1801209" cy="1801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Description &amp; Methodology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095946" y="2635864"/>
              <a:ext cx="1996091" cy="19960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9FAEBA"/>
                </a:gs>
                <a:gs pos="50000">
                  <a:srgbClr val="92A4B4"/>
                </a:gs>
                <a:gs pos="100000">
                  <a:srgbClr val="7E90A0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5193387" y="2733305"/>
              <a:ext cx="1801209" cy="1801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Key Metrics &amp; Visualisation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red text on a black background&#10;&#10;AI-generated content may be incorrect.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idx="2" type="body"/>
          </p:nvPr>
        </p:nvSpPr>
        <p:spPr>
          <a:xfrm>
            <a:off x="6172200" y="1564105"/>
            <a:ext cx="5181600" cy="4612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3200"/>
              <a:buNone/>
            </a:pPr>
            <a:r>
              <a:rPr b="1" lang="en-US" sz="3200" u="sng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Problem Statement</a:t>
            </a:r>
            <a:r>
              <a:rPr b="1" lang="en-US" sz="3200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sz="2400"/>
            </a:br>
            <a:r>
              <a:rPr lang="en-US" sz="1600"/>
              <a:t>Zomato is seeking to expand its presence by identifying new strategic locations for restaurant openings. This project utilizes data-driven insights to suggest optimal areas for expansion based on ratings, price, votes and cuisines.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>
              <a:solidFill>
                <a:srgbClr val="C0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head with a light bulb inside&#10;&#10;AI-generated content may be incorrect." id="121" name="Google Shape;121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2646" y="1825625"/>
            <a:ext cx="3997659" cy="3997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6" y="1791729"/>
            <a:ext cx="10821027" cy="4497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text on a black background&#10;&#10;AI-generated content may be incorrect.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789948" y="228600"/>
            <a:ext cx="10230978" cy="1563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You are hired as a consultant data analyst by Zomato where the team is looking   for expansion and opening more restaurants. Your task is to develop strategies/suggestions for opening newer restaurants</a:t>
            </a:r>
            <a:r>
              <a:rPr b="0" i="0" lang="en-US" sz="24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39788" y="457200"/>
            <a:ext cx="902610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Play"/>
              <a:buNone/>
            </a:pPr>
            <a:r>
              <a:rPr b="1" lang="en-US">
                <a:solidFill>
                  <a:srgbClr val="0070C0"/>
                </a:solidFill>
              </a:rPr>
              <a:t>                                     </a:t>
            </a:r>
            <a:r>
              <a:rPr b="1" lang="en-US" u="sng">
                <a:solidFill>
                  <a:srgbClr val="1F5C99"/>
                </a:solidFill>
              </a:rPr>
              <a:t>Objective Of Project</a:t>
            </a:r>
            <a:br>
              <a:rPr b="1" lang="en-US" u="sng">
                <a:solidFill>
                  <a:srgbClr val="0070C0"/>
                </a:solidFill>
              </a:rPr>
            </a:b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839788" y="2057400"/>
            <a:ext cx="10512424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Determine possible countries for Zomato's growth.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Analyze market patterns.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Restaurant distribution.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Customer feedback, and pricing strategies to determine potential growth opportunities for Zomato.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To enhance service delivery, collect feedback and customer satisfaction statistics. 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5727031" y="1383632"/>
            <a:ext cx="6200273" cy="37856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Has_Table_booking: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whether the restaurant has a table booking option (Yes/No).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Has_Online_delivery: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whether the restaurant offers online delivery (Yes/No).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Is_delivering_now: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whether the restaurant is currently delivering (Yes/No).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Switch_to_order_menu: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whether users can switch to the order menu (Yes/No).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Price_range: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numeric value indicating the price range category of the restaurant.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Votes: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number of votes or ratings/(feedback) received by the restaurant.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Average_Cost_for_two: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average cost for two people dining at the restaurant.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Rating: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overall rating of the restaurant is based on user reviews.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264695" y="1383632"/>
            <a:ext cx="5185610" cy="47524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03346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Restaurant ID: </a:t>
            </a:r>
            <a:r>
              <a:rPr lang="en-US" sz="2100">
                <a:solidFill>
                  <a:srgbClr val="000000"/>
                </a:solidFill>
              </a:rPr>
              <a:t>Unique identifier for each restaurant.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Restaurant Name: </a:t>
            </a:r>
            <a:r>
              <a:rPr lang="en-US" sz="2100">
                <a:solidFill>
                  <a:srgbClr val="000000"/>
                </a:solidFill>
              </a:rPr>
              <a:t>The name of the restaurant.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CountryCode: </a:t>
            </a:r>
            <a:r>
              <a:rPr lang="en-US" sz="2100">
                <a:solidFill>
                  <a:srgbClr val="000000"/>
                </a:solidFill>
              </a:rPr>
              <a:t>Country code of the location where the restaurant is situated.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City: </a:t>
            </a:r>
            <a:r>
              <a:rPr lang="en-US" sz="2100">
                <a:solidFill>
                  <a:srgbClr val="000000"/>
                </a:solidFill>
              </a:rPr>
              <a:t>The city where the restaurant is located.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Address: </a:t>
            </a:r>
            <a:r>
              <a:rPr lang="en-US" sz="2100">
                <a:solidFill>
                  <a:srgbClr val="000000"/>
                </a:solidFill>
              </a:rPr>
              <a:t>The specific address of the restaurant.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Locality: </a:t>
            </a:r>
            <a:r>
              <a:rPr lang="en-US" sz="2100">
                <a:solidFill>
                  <a:srgbClr val="000000"/>
                </a:solidFill>
              </a:rPr>
              <a:t>The locality or neighborhood where the restaurant is situated.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Locality Verbose: </a:t>
            </a:r>
            <a:r>
              <a:rPr lang="en-US" sz="2100">
                <a:solidFill>
                  <a:srgbClr val="000000"/>
                </a:solidFill>
              </a:rPr>
              <a:t>Detailed information about the locality.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Longitude: </a:t>
            </a:r>
            <a:r>
              <a:rPr lang="en-US" sz="2100">
                <a:solidFill>
                  <a:srgbClr val="000000"/>
                </a:solidFill>
              </a:rPr>
              <a:t>The geographical longitude coordinate of the restaurant.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Latitude: </a:t>
            </a:r>
            <a:r>
              <a:rPr lang="en-US" sz="2100">
                <a:solidFill>
                  <a:srgbClr val="000000"/>
                </a:solidFill>
              </a:rPr>
              <a:t>The geographical latitude coordinate of the restaurant.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Cuisines: </a:t>
            </a:r>
            <a:r>
              <a:rPr lang="en-US" sz="2100">
                <a:solidFill>
                  <a:srgbClr val="000000"/>
                </a:solidFill>
              </a:rPr>
              <a:t>The type of cuisine offered by the restaurant.</a:t>
            </a:r>
            <a:endParaRPr b="1" sz="2100">
              <a:solidFill>
                <a:srgbClr val="000000"/>
              </a:solidFill>
            </a:endParaRPr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Currency: </a:t>
            </a:r>
            <a:r>
              <a:rPr lang="en-US" sz="2100">
                <a:solidFill>
                  <a:srgbClr val="000000"/>
                </a:solidFill>
              </a:rPr>
              <a:t>The currency used for transactions in the restaurant.</a:t>
            </a:r>
            <a:endParaRPr/>
          </a:p>
          <a:p>
            <a:pPr indent="-103346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ct val="100000"/>
              <a:buFont typeface="Arial"/>
              <a:buChar char="•"/>
            </a:pPr>
            <a:r>
              <a:rPr b="1" lang="en-US" sz="2100">
                <a:solidFill>
                  <a:srgbClr val="1F5C99"/>
                </a:solidFill>
              </a:rPr>
              <a:t>Datekey_opening: </a:t>
            </a:r>
            <a:r>
              <a:rPr lang="en-US" sz="2100">
                <a:solidFill>
                  <a:srgbClr val="000000"/>
                </a:solidFill>
              </a:rPr>
              <a:t>The date when the restaurant was opened.</a:t>
            </a:r>
            <a:endParaRPr b="1"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A red text on a black background&#10;&#10;AI-generated content may be incorrect.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839788" y="168442"/>
            <a:ext cx="9796128" cy="902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                                           </a:t>
            </a:r>
            <a:r>
              <a:rPr b="1" i="0" lang="en-US" sz="32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Data</a:t>
            </a:r>
            <a:r>
              <a:rPr b="1" i="0" lang="en-US" sz="3200" u="sng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32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Overview </a:t>
            </a:r>
            <a:endParaRPr b="0" i="0" sz="3200" u="sng" cap="none" strike="noStrike">
              <a:solidFill>
                <a:srgbClr val="1F5C99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8"/>
          <p:cNvGraphicFramePr/>
          <p:nvPr/>
        </p:nvGraphicFramePr>
        <p:xfrm>
          <a:off x="950495" y="1780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{3BC3ABF6-AC9B-40E5-AAB9-77D87F506A27}</a:tableStyleId>
              </a:tblPr>
              <a:tblGrid>
                <a:gridCol w="4908875"/>
                <a:gridCol w="4908875"/>
              </a:tblGrid>
              <a:tr h="45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5C99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1F5C99"/>
                          </a:solidFill>
                        </a:rPr>
                        <a:t>                      Total Restaurants</a:t>
                      </a:r>
                      <a:endParaRPr sz="1600" u="none" cap="none" strike="noStrike">
                        <a:solidFill>
                          <a:srgbClr val="1F5C99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1F5C9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9551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5C99"/>
                          </a:solidFill>
                        </a:rPr>
                        <a:t>Total Countries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5C99"/>
                          </a:solidFill>
                        </a:rPr>
                        <a:t>Total Cities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140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5C99"/>
                          </a:solidFill>
                        </a:rPr>
                        <a:t>Total cuisines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1821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5C99"/>
                          </a:solidFill>
                        </a:rPr>
                        <a:t>Service offered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Online Booking, Table Booking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5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5C99"/>
                          </a:solidFill>
                        </a:rPr>
                        <a:t>Average Rating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2.89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Average price in INR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>
                          <a:solidFill>
                            <a:srgbClr val="3970A3"/>
                          </a:solidFill>
                        </a:rPr>
                        <a:t>₹863</a:t>
                      </a:r>
                      <a:r>
                        <a:rPr lang="en-US" sz="1600">
                          <a:solidFill>
                            <a:srgbClr val="3970A3"/>
                          </a:solidFill>
                        </a:rPr>
                        <a:t> </a:t>
                      </a:r>
                      <a:endParaRPr sz="1600">
                        <a:solidFill>
                          <a:srgbClr val="3970A3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A red text on a black background&#10;&#10;AI-generated content may be incorrect."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3850105" y="432486"/>
            <a:ext cx="3777916" cy="902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        </a:t>
            </a:r>
            <a:r>
              <a:rPr b="1" i="0" lang="en-US" sz="32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Data</a:t>
            </a:r>
            <a:r>
              <a:rPr b="1" i="0" lang="en-US" sz="3200" u="sng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32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Snapshot</a:t>
            </a:r>
            <a:r>
              <a:rPr b="1" i="0" lang="en-US" sz="3200" u="sng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1" i="0" sz="3200" u="sng" cap="none" strike="noStrike">
              <a:solidFill>
                <a:srgbClr val="C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4772025" y="-172036"/>
            <a:ext cx="3932237" cy="10744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                                                        </a:t>
            </a:r>
            <a:r>
              <a:rPr b="1" lang="en-US" u="sng">
                <a:solidFill>
                  <a:srgbClr val="1F5C99"/>
                </a:solidFill>
              </a:rPr>
              <a:t>Methodology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839788" y="1732547"/>
            <a:ext cx="9615654" cy="4136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" lvl="0" marL="571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Noto Sans Symbols"/>
              <a:buChar char="⮚"/>
            </a:pPr>
            <a:r>
              <a:rPr b="1" lang="en-US">
                <a:solidFill>
                  <a:srgbClr val="1F5C99"/>
                </a:solidFill>
              </a:rPr>
              <a:t>Data Cleaning:</a:t>
            </a:r>
            <a:endParaRPr/>
          </a:p>
          <a:p>
            <a:pPr indent="-228600" lvl="0" marL="28346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Addressed missing entries in the Cuisine column.</a:t>
            </a:r>
            <a:endParaRPr/>
          </a:p>
          <a:p>
            <a:pPr indent="-228600" lvl="0" marL="28346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Eliminated unnecessary columns.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Noto Sans Symbols"/>
              <a:buChar char="⮚"/>
            </a:pPr>
            <a:r>
              <a:rPr b="1" lang="en-US">
                <a:solidFill>
                  <a:srgbClr val="1F5C99"/>
                </a:solidFill>
              </a:rPr>
              <a:t>Data Enrichment:</a:t>
            </a:r>
            <a:endParaRPr/>
          </a:p>
          <a:p>
            <a:pPr indent="-228600" lvl="0" marL="28346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Enhanced the dataset by incorporating country information through VLOOKUP based on the country code.</a:t>
            </a:r>
            <a:endParaRPr/>
          </a:p>
          <a:p>
            <a:pPr indent="-228600" lvl="0" marL="28346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Derived year from the date key opening using text functions to facilitate analysis of temporal trends.</a:t>
            </a:r>
            <a:endParaRPr/>
          </a:p>
          <a:p>
            <a:pPr indent="-285750" lvl="0" marL="34061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600"/>
              <a:buFont typeface="Noto Sans Symbols"/>
              <a:buChar char="⮚"/>
            </a:pPr>
            <a:r>
              <a:rPr b="1" lang="en-US">
                <a:solidFill>
                  <a:srgbClr val="1F5C99"/>
                </a:solidFill>
              </a:rPr>
              <a:t>Descriptive Analysis:</a:t>
            </a:r>
            <a:endParaRPr/>
          </a:p>
          <a:p>
            <a:pPr indent="-22860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Used pivot tables and pivot charts for dynamic summarization and visualization, enabling clear and actionable insights.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red text on a black background&#10;&#10;AI-generated content may be incorrect.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the country&#10;&#10;AI-generated content may be incorrect.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12" y="1816768"/>
            <a:ext cx="7526433" cy="33585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>
            <p:ph type="title"/>
          </p:nvPr>
        </p:nvSpPr>
        <p:spPr>
          <a:xfrm>
            <a:off x="3043989" y="98854"/>
            <a:ext cx="8308223" cy="654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3200"/>
              <a:buFont typeface="Play"/>
              <a:buNone/>
            </a:pPr>
            <a:r>
              <a:rPr b="1" lang="en-US" u="sng">
                <a:solidFill>
                  <a:srgbClr val="1F5C99"/>
                </a:solidFill>
              </a:rPr>
              <a:t>Key Metrics and Visualization</a:t>
            </a:r>
            <a:endParaRPr/>
          </a:p>
        </p:txBody>
      </p:sp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7593703" y="819636"/>
            <a:ext cx="4441885" cy="1726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Calculated the total number of restaurants per country and visualized the insights through charts.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It is advisable to open new restaurants in Brazil, Sri Lanka, Canada, and Australia.</a:t>
            </a:r>
            <a:endParaRPr/>
          </a:p>
        </p:txBody>
      </p:sp>
      <p:pic>
        <p:nvPicPr>
          <p:cNvPr descr="A red text on a black background&#10;&#10;AI-generated content may be incorrect." id="167" name="Google Shape;16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 txBox="1"/>
          <p:nvPr/>
        </p:nvSpPr>
        <p:spPr>
          <a:xfrm>
            <a:off x="92241" y="219943"/>
            <a:ext cx="251861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200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Count of Restaurants</a:t>
            </a:r>
            <a:r>
              <a:rPr b="1" i="0" lang="en-US" sz="2000" u="none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blue bars with white text&#10;&#10;AI-generated content may be incorrect.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73179"/>
            <a:ext cx="8157933" cy="316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/>
          <p:nvPr>
            <p:ph idx="1" type="body"/>
          </p:nvPr>
        </p:nvSpPr>
        <p:spPr>
          <a:xfrm>
            <a:off x="7154943" y="0"/>
            <a:ext cx="4842369" cy="2799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1700"/>
              <a:t>Calculated the average number of voters per restaurant by country for comparative analysis.</a:t>
            </a:r>
            <a:br>
              <a:rPr lang="en-US" sz="1700"/>
            </a:br>
            <a:r>
              <a:rPr lang="en-US"/>
              <a:t>A country with significant proportion of voters indicates more interaction with customers.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Example from Chart: Indonesia, UAE, Turkey.</a:t>
            </a:r>
            <a:endParaRPr/>
          </a:p>
          <a:p>
            <a:pPr indent="-17780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t/>
            </a:r>
            <a:endParaRPr sz="1700"/>
          </a:p>
        </p:txBody>
      </p:sp>
      <p:pic>
        <p:nvPicPr>
          <p:cNvPr descr="A red text on a black background&#10;&#10;AI-generated content may be incorrect." id="175" name="Google Shape;1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/>
          <p:nvPr/>
        </p:nvSpPr>
        <p:spPr>
          <a:xfrm>
            <a:off x="0" y="158833"/>
            <a:ext cx="3272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200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Average number of Voters in each country</a:t>
            </a:r>
            <a:r>
              <a:rPr b="1" i="0" lang="en-US" sz="2000" u="none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endParaRPr b="1" i="0" sz="2000" u="none" cap="none" strike="noStrike">
              <a:solidFill>
                <a:srgbClr val="1F5C99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numbers and a number&#10;&#10;AI-generated content may be incorrect." id="181" name="Google Shape;1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768642"/>
            <a:ext cx="7363670" cy="33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 txBox="1"/>
          <p:nvPr>
            <p:ph idx="1" type="body"/>
          </p:nvPr>
        </p:nvSpPr>
        <p:spPr>
          <a:xfrm>
            <a:off x="7154944" y="575035"/>
            <a:ext cx="4407404" cy="340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A higher number of restaurants suggests greater consumer involvement.</a:t>
            </a:r>
            <a:br>
              <a:rPr lang="en-US"/>
            </a:br>
            <a:r>
              <a:rPr lang="en-US"/>
              <a:t>Example from Chart: Years 2011, 2017, and 2018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red text on a black background&#10;&#10;AI-generated content may be incorrect." id="183" name="Google Shape;18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2"/>
          <p:cNvSpPr/>
          <p:nvPr/>
        </p:nvSpPr>
        <p:spPr>
          <a:xfrm>
            <a:off x="180473" y="180474"/>
            <a:ext cx="2983832" cy="613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200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Restaurants opened each year</a:t>
            </a:r>
            <a:r>
              <a:rPr b="1" i="0" lang="en-US" sz="2000" u="none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b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with a line&#10;&#10;AI-generated content may be incorrect."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804737"/>
            <a:ext cx="6495069" cy="415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 txBox="1"/>
          <p:nvPr>
            <p:ph idx="1" type="body"/>
          </p:nvPr>
        </p:nvSpPr>
        <p:spPr>
          <a:xfrm>
            <a:off x="6495069" y="619626"/>
            <a:ext cx="5696931" cy="1816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It is mandatory to understand ratings of restaurants in order to develop marketing plans and assess performance.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High rating:</a:t>
            </a:r>
            <a:r>
              <a:rPr b="1" i="1" lang="en-US"/>
              <a:t> </a:t>
            </a:r>
            <a:r>
              <a:rPr lang="en-US"/>
              <a:t>Philippines, Turkey [These countries face major market demands].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Low rating: Canada, Singapore [Improvements must be made]</a:t>
            </a:r>
            <a:endParaRPr b="1" i="1"/>
          </a:p>
          <a:p>
            <a:pPr indent="-17780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red text on a black background&#10;&#10;AI-generated content may be incorrect." id="191" name="Google Shape;1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5173" y="6176963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/>
          <p:nvPr/>
        </p:nvSpPr>
        <p:spPr>
          <a:xfrm>
            <a:off x="0" y="144379"/>
            <a:ext cx="4006516" cy="9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200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Average Rating of Restaurants in each Country:</a:t>
            </a:r>
            <a:b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a number of food&#10;&#10;AI-generated content may be incorrect." id="197" name="Google Shape;1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90" y="1253765"/>
            <a:ext cx="7514741" cy="462856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 txBox="1"/>
          <p:nvPr>
            <p:ph type="title"/>
          </p:nvPr>
        </p:nvSpPr>
        <p:spPr>
          <a:xfrm>
            <a:off x="0" y="-263859"/>
            <a:ext cx="3932237" cy="7700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2000"/>
              <a:buFont typeface="Arial"/>
              <a:buChar char="•"/>
            </a:pPr>
            <a:r>
              <a:rPr b="1" lang="en-US" sz="2000" u="sng">
                <a:solidFill>
                  <a:srgbClr val="1F5C99"/>
                </a:solidFill>
              </a:rPr>
              <a:t>Top 10 Cuisines</a:t>
            </a:r>
            <a:r>
              <a:rPr b="1" lang="en-US" sz="2000">
                <a:solidFill>
                  <a:srgbClr val="1F5C99"/>
                </a:solidFill>
              </a:rPr>
              <a:t>:</a:t>
            </a:r>
            <a:endParaRPr sz="2000">
              <a:solidFill>
                <a:srgbClr val="1F5C99"/>
              </a:solidFill>
            </a:endParaRPr>
          </a:p>
        </p:txBody>
      </p:sp>
      <p:pic>
        <p:nvPicPr>
          <p:cNvPr descr="A red text on a black background&#10;&#10;AI-generated content may be incorrect." id="199" name="Google Shape;1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4"/>
          <p:cNvSpPr txBox="1"/>
          <p:nvPr/>
        </p:nvSpPr>
        <p:spPr>
          <a:xfrm>
            <a:off x="8116478" y="637675"/>
            <a:ext cx="387441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North Indian and Chinese are most popular cuisines.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/>
          <p:nvPr>
            <p:ph type="title"/>
          </p:nvPr>
        </p:nvSpPr>
        <p:spPr>
          <a:xfrm>
            <a:off x="0" y="12867"/>
            <a:ext cx="3152274" cy="530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2000"/>
              <a:buFont typeface="Arial"/>
              <a:buChar char="•"/>
            </a:pPr>
            <a:r>
              <a:rPr b="1" lang="en-US" sz="2000" u="sng">
                <a:solidFill>
                  <a:srgbClr val="1F5C99"/>
                </a:solidFill>
              </a:rPr>
              <a:t>Average cost of two INR</a:t>
            </a:r>
            <a:r>
              <a:rPr b="1" lang="en-US" sz="2000">
                <a:solidFill>
                  <a:srgbClr val="1F5C99"/>
                </a:solidFill>
              </a:rPr>
              <a:t>:</a:t>
            </a:r>
            <a:endParaRPr sz="2000">
              <a:solidFill>
                <a:srgbClr val="1F5C99"/>
              </a:solidFill>
            </a:endParaRPr>
          </a:p>
        </p:txBody>
      </p:sp>
      <p:sp>
        <p:nvSpPr>
          <p:cNvPr id="207" name="Google Shape;207;p15"/>
          <p:cNvSpPr txBox="1"/>
          <p:nvPr>
            <p:ph idx="1" type="body"/>
          </p:nvPr>
        </p:nvSpPr>
        <p:spPr>
          <a:xfrm>
            <a:off x="6785720" y="474734"/>
            <a:ext cx="5406280" cy="225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lang="en-US"/>
              <a:t>Singapore</a:t>
            </a:r>
            <a:r>
              <a:rPr lang="en-US"/>
              <a:t> is the most expensive, averaging 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lang="en-US"/>
              <a:t>India </a:t>
            </a:r>
            <a:r>
              <a:rPr lang="en-US"/>
              <a:t>and the </a:t>
            </a:r>
            <a:r>
              <a:rPr b="1" lang="en-US"/>
              <a:t>UAE </a:t>
            </a:r>
            <a:r>
              <a:rPr lang="en-US"/>
              <a:t>offer the most affordable dining.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Only </a:t>
            </a:r>
            <a:r>
              <a:rPr b="1" lang="en-US"/>
              <a:t>Singapore</a:t>
            </a:r>
            <a:r>
              <a:rPr lang="en-US"/>
              <a:t> and the </a:t>
            </a:r>
            <a:r>
              <a:rPr b="1" lang="en-US"/>
              <a:t>Philippines</a:t>
            </a:r>
            <a:r>
              <a:rPr lang="en-US"/>
              <a:t> (over ) exceed this threshold.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 The </a:t>
            </a:r>
            <a:r>
              <a:rPr b="1" lang="en-US"/>
              <a:t>UK </a:t>
            </a:r>
            <a:r>
              <a:rPr lang="en-US"/>
              <a:t>is over double the cost of the </a:t>
            </a:r>
            <a:r>
              <a:rPr b="1" lang="en-US"/>
              <a:t>USA</a:t>
            </a:r>
            <a:r>
              <a:rPr lang="en-US"/>
              <a:t>, showing major differences even within key markets.</a:t>
            </a:r>
            <a:endParaRPr/>
          </a:p>
          <a:p>
            <a:pPr indent="-1841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A graph with blue lines and white text&#10;&#10;AI-generated content may be incorrect."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727200"/>
            <a:ext cx="6693031" cy="4377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text on a black background&#10;&#10;AI-generated content may be incorrect." id="209" name="Google Shape;2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e chart with text&#10;&#10;AI-generated content may be incorrect." id="214" name="Google Shape;2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6146" y="3780976"/>
            <a:ext cx="3441677" cy="234644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7569724" y="527344"/>
            <a:ext cx="4075050" cy="2418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Restaurants with online delivery and table booking have slightly better average ratings.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Having an online presence caters to more people and increases the overall rating.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New restaurants should offer at least table booking or online delivery—ideally both—to improve ratings.</a:t>
            </a:r>
            <a:endParaRPr/>
          </a:p>
          <a:p>
            <a:pPr indent="-1841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red text on a black background&#10;&#10;AI-generated content may be incorrect." id="216" name="Google Shape;2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/>
          <p:nvPr/>
        </p:nvSpPr>
        <p:spPr>
          <a:xfrm>
            <a:off x="-1" y="192505"/>
            <a:ext cx="4427621" cy="766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200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Delivery and Table Booking Analysis</a:t>
            </a:r>
            <a:r>
              <a:rPr b="1" i="0" lang="en-US" sz="2000" u="none" cap="none" strike="noStrike">
                <a:solidFill>
                  <a:srgbClr val="1F5C99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endParaRPr/>
          </a:p>
        </p:txBody>
      </p:sp>
      <p:pic>
        <p:nvPicPr>
          <p:cNvPr descr="A pie chart with text&#10;&#10;AI-generated content may be incorrect." id="218" name="Google Shape;2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690" y="1736764"/>
            <a:ext cx="3497397" cy="195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4129881" y="18891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70A3"/>
              </a:buClr>
              <a:buSzPts val="3200"/>
              <a:buFont typeface="Play"/>
              <a:buNone/>
            </a:pPr>
            <a:r>
              <a:rPr b="1" lang="en-US" u="sng">
                <a:solidFill>
                  <a:srgbClr val="3970A3"/>
                </a:solidFill>
              </a:rPr>
              <a:t>Recommendations</a:t>
            </a:r>
            <a:r>
              <a:rPr lang="en-US">
                <a:solidFill>
                  <a:srgbClr val="3970A3"/>
                </a:solidFill>
              </a:rPr>
              <a:t>:</a:t>
            </a:r>
            <a:br>
              <a:rPr lang="en-US">
                <a:solidFill>
                  <a:srgbClr val="3970A3"/>
                </a:solidFill>
              </a:rPr>
            </a:br>
            <a:endParaRPr/>
          </a:p>
        </p:txBody>
      </p:sp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839788" y="1789112"/>
            <a:ext cx="10325517" cy="4407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Focus on opening new restaurants in countries with strong potential and healthy competition.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Prioritise markets with fewer existing eateries for easier entry.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Use restaurant density analysis to spot growth opportunities and prime customer locations.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Identify major competitors to inform strategies for differentiating new venues.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Understand customer sentiment to guide improvements.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Provide quality food and smart pricing to attract and retain customers.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Implement online delivery and booking systems to boost satisfaction and ratings.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A red text on a black background&#10;&#10;AI-generated content may be incorrect." id="225" name="Google Shape;2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text on a black background&#10;&#10;AI-generated content may be incorrect." id="231" name="Google Shape;2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 txBox="1"/>
          <p:nvPr/>
        </p:nvSpPr>
        <p:spPr>
          <a:xfrm>
            <a:off x="-57610" y="0"/>
            <a:ext cx="28635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970A3"/>
              </a:buClr>
              <a:buSzPts val="200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3970A3"/>
                </a:solidFill>
                <a:latin typeface="Play"/>
                <a:ea typeface="Play"/>
                <a:cs typeface="Play"/>
                <a:sym typeface="Play"/>
              </a:rPr>
              <a:t>Final Dashboard</a:t>
            </a:r>
            <a:r>
              <a:rPr b="1" i="0" lang="en-US" sz="2000" u="none" cap="none" strike="noStrike">
                <a:solidFill>
                  <a:srgbClr val="3970A3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endParaRPr/>
          </a:p>
        </p:txBody>
      </p:sp>
      <p:pic>
        <p:nvPicPr>
          <p:cNvPr id="233" name="Google Shape;233;p18" title="Screenshot 2025-12-30 2040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2510"/>
            <a:ext cx="11887196" cy="478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>
            <p:ph type="title"/>
          </p:nvPr>
        </p:nvSpPr>
        <p:spPr>
          <a:xfrm>
            <a:off x="527901" y="457200"/>
            <a:ext cx="1036948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70A3"/>
              </a:buClr>
              <a:buSzPts val="3200"/>
              <a:buFont typeface="Play"/>
              <a:buNone/>
            </a:pPr>
            <a:r>
              <a:rPr b="1" lang="en-US">
                <a:solidFill>
                  <a:srgbClr val="3970A3"/>
                </a:solidFill>
              </a:rPr>
              <a:t>                                                     </a:t>
            </a:r>
            <a:r>
              <a:rPr b="1" lang="en-US" u="sng">
                <a:solidFill>
                  <a:srgbClr val="3970A3"/>
                </a:solidFill>
              </a:rPr>
              <a:t>Conclusion</a:t>
            </a:r>
            <a:r>
              <a:rPr lang="en-US">
                <a:solidFill>
                  <a:srgbClr val="3970A3"/>
                </a:solidFill>
              </a:rPr>
              <a:t>:</a:t>
            </a:r>
            <a:br>
              <a:rPr lang="en-US">
                <a:solidFill>
                  <a:srgbClr val="3970A3"/>
                </a:solidFill>
              </a:rPr>
            </a:br>
            <a:endParaRPr/>
          </a:p>
        </p:txBody>
      </p:sp>
      <p:sp>
        <p:nvSpPr>
          <p:cNvPr id="239" name="Google Shape;239;p19"/>
          <p:cNvSpPr txBox="1"/>
          <p:nvPr>
            <p:ph idx="1" type="body"/>
          </p:nvPr>
        </p:nvSpPr>
        <p:spPr>
          <a:xfrm>
            <a:off x="839788" y="2057400"/>
            <a:ext cx="10824311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An in-depth examination of restaurant data has shown a number of promising prospects for international growth. 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We can strategically place ourselves in markets with less competition by concentrating on nations with high average ratings and smaller restaurant densities. 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North Indian, Chinese, Fast Food, Café, Bakery, Desserts, Street Food are the top cuisines available in restaurants across all countries.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Given their high levels of consumer satisfaction, targeting cities in the Sri Lanka and Indonesia has great promise.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red text on a black background&#10;&#10;AI-generated content may be incorrect." id="240" name="Google Shape;2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/>
          <p:nvPr>
            <p:ph idx="1" type="body"/>
          </p:nvPr>
        </p:nvSpPr>
        <p:spPr>
          <a:xfrm>
            <a:off x="1348033" y="2310061"/>
            <a:ext cx="8936167" cy="305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70A3"/>
              </a:buClr>
              <a:buSzPts val="7200"/>
              <a:buNone/>
            </a:pPr>
            <a:r>
              <a:rPr lang="en-US" sz="7200">
                <a:solidFill>
                  <a:srgbClr val="3970A3"/>
                </a:solidFill>
              </a:rPr>
              <a:t>         </a:t>
            </a:r>
            <a:r>
              <a:rPr b="1" lang="en-US" sz="7200">
                <a:solidFill>
                  <a:srgbClr val="3970A3"/>
                </a:solidFill>
              </a:rPr>
              <a:t>THANK YOU</a:t>
            </a:r>
            <a:endParaRPr/>
          </a:p>
        </p:txBody>
      </p:sp>
      <p:pic>
        <p:nvPicPr>
          <p:cNvPr descr="A red text on a black background&#10;&#10;AI-generated content may be incorrect." id="246" name="Google Shape;2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579" y="6270484"/>
            <a:ext cx="1210732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2025-10-16T20:10:43Z</dcterms:created>
  <dc:creator>Amar Amar</dc:creator>
</cp:coreProperties>
</file>